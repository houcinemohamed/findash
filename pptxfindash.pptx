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Montserrat Bold" charset="1" panose="00000800000000000000"/>
      <p:regular r:id="rId15"/>
    </p:embeddedFont>
    <p:embeddedFont>
      <p:font typeface="Bebas Neue Cyrillic" charset="1" panose="020005060000000200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6.png" Type="http://schemas.openxmlformats.org/officeDocument/2006/relationships/image"/><Relationship Id="rId4" Target="../embeddings/oleObject1.bin" Type="http://schemas.openxmlformats.org/officeDocument/2006/relationships/oleObjec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39855" y="4576583"/>
            <a:ext cx="11597800" cy="11597800"/>
          </a:xfrm>
          <a:custGeom>
            <a:avLst/>
            <a:gdLst/>
            <a:ahLst/>
            <a:cxnLst/>
            <a:rect r="r" b="b" t="t" l="l"/>
            <a:pathLst>
              <a:path h="11597800" w="11597800">
                <a:moveTo>
                  <a:pt x="0" y="0"/>
                </a:moveTo>
                <a:lnTo>
                  <a:pt x="11597799" y="0"/>
                </a:lnTo>
                <a:lnTo>
                  <a:pt x="11597799" y="11597799"/>
                </a:lnTo>
                <a:lnTo>
                  <a:pt x="0" y="115977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26333" y="9871319"/>
            <a:ext cx="20299167" cy="415681"/>
            <a:chOff x="0" y="0"/>
            <a:chExt cx="5683409" cy="11638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83409" cy="116383"/>
            </a:xfrm>
            <a:custGeom>
              <a:avLst/>
              <a:gdLst/>
              <a:ahLst/>
              <a:cxnLst/>
              <a:rect r="r" b="b" t="t" l="l"/>
              <a:pathLst>
                <a:path h="116383" w="5683409">
                  <a:moveTo>
                    <a:pt x="0" y="0"/>
                  </a:moveTo>
                  <a:lnTo>
                    <a:pt x="5683409" y="0"/>
                  </a:lnTo>
                  <a:lnTo>
                    <a:pt x="5683409" y="116383"/>
                  </a:lnTo>
                  <a:lnTo>
                    <a:pt x="0" y="11638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5683409" cy="144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67486" y="158635"/>
            <a:ext cx="9712684" cy="9712684"/>
          </a:xfrm>
          <a:custGeom>
            <a:avLst/>
            <a:gdLst/>
            <a:ahLst/>
            <a:cxnLst/>
            <a:rect r="r" b="b" t="t" l="l"/>
            <a:pathLst>
              <a:path h="9712684" w="9712684">
                <a:moveTo>
                  <a:pt x="0" y="0"/>
                </a:moveTo>
                <a:lnTo>
                  <a:pt x="9712684" y="0"/>
                </a:lnTo>
                <a:lnTo>
                  <a:pt x="9712684" y="9712684"/>
                </a:lnTo>
                <a:lnTo>
                  <a:pt x="0" y="97126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464631">
            <a:off x="-955325" y="1813182"/>
            <a:ext cx="9319297" cy="14578056"/>
          </a:xfrm>
          <a:custGeom>
            <a:avLst/>
            <a:gdLst/>
            <a:ahLst/>
            <a:cxnLst/>
            <a:rect r="r" b="b" t="t" l="l"/>
            <a:pathLst>
              <a:path h="14578056" w="9319297">
                <a:moveTo>
                  <a:pt x="0" y="0"/>
                </a:moveTo>
                <a:lnTo>
                  <a:pt x="9319297" y="0"/>
                </a:lnTo>
                <a:lnTo>
                  <a:pt x="9319297" y="14578056"/>
                </a:lnTo>
                <a:lnTo>
                  <a:pt x="0" y="145780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8084" t="-31436" r="-70516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464631">
            <a:off x="1216785" y="1955525"/>
            <a:ext cx="7206518" cy="14578056"/>
          </a:xfrm>
          <a:custGeom>
            <a:avLst/>
            <a:gdLst/>
            <a:ahLst/>
            <a:cxnLst/>
            <a:rect r="r" b="b" t="t" l="l"/>
            <a:pathLst>
              <a:path h="14578056" w="7206518">
                <a:moveTo>
                  <a:pt x="0" y="0"/>
                </a:moveTo>
                <a:lnTo>
                  <a:pt x="7206518" y="0"/>
                </a:lnTo>
                <a:lnTo>
                  <a:pt x="7206518" y="14578056"/>
                </a:lnTo>
                <a:lnTo>
                  <a:pt x="0" y="145780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07884" t="-31436" r="-9119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2591920" y="-1325241"/>
            <a:ext cx="10665964" cy="10688657"/>
          </a:xfrm>
          <a:custGeom>
            <a:avLst/>
            <a:gdLst/>
            <a:ahLst/>
            <a:cxnLst/>
            <a:rect r="r" b="b" t="t" l="l"/>
            <a:pathLst>
              <a:path h="10688657" w="10665964">
                <a:moveTo>
                  <a:pt x="0" y="0"/>
                </a:moveTo>
                <a:lnTo>
                  <a:pt x="10665964" y="0"/>
                </a:lnTo>
                <a:lnTo>
                  <a:pt x="10665964" y="10688657"/>
                </a:lnTo>
                <a:lnTo>
                  <a:pt x="0" y="106886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6000"/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464631">
            <a:off x="-893804" y="1805770"/>
            <a:ext cx="9196254" cy="14385583"/>
          </a:xfrm>
          <a:custGeom>
            <a:avLst/>
            <a:gdLst/>
            <a:ahLst/>
            <a:cxnLst/>
            <a:rect r="r" b="b" t="t" l="l"/>
            <a:pathLst>
              <a:path h="14385583" w="9196254">
                <a:moveTo>
                  <a:pt x="0" y="0"/>
                </a:moveTo>
                <a:lnTo>
                  <a:pt x="9196255" y="0"/>
                </a:lnTo>
                <a:lnTo>
                  <a:pt x="9196255" y="14385583"/>
                </a:lnTo>
                <a:lnTo>
                  <a:pt x="0" y="143855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8084" t="-31436" r="-70516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-1279369" y="10217567"/>
            <a:ext cx="21015180" cy="119815"/>
            <a:chOff x="0" y="0"/>
            <a:chExt cx="7478789" cy="4263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478789" cy="42639"/>
            </a:xfrm>
            <a:custGeom>
              <a:avLst/>
              <a:gdLst/>
              <a:ahLst/>
              <a:cxnLst/>
              <a:rect r="r" b="b" t="t" l="l"/>
              <a:pathLst>
                <a:path h="42639" w="7478789">
                  <a:moveTo>
                    <a:pt x="0" y="0"/>
                  </a:moveTo>
                  <a:lnTo>
                    <a:pt x="7478789" y="0"/>
                  </a:lnTo>
                  <a:lnTo>
                    <a:pt x="7478789" y="42639"/>
                  </a:lnTo>
                  <a:lnTo>
                    <a:pt x="0" y="42639"/>
                  </a:lnTo>
                  <a:close/>
                </a:path>
              </a:pathLst>
            </a:custGeom>
            <a:solidFill>
              <a:srgbClr val="0A1D41"/>
            </a:solidFill>
            <a:ln w="952500" cap="sq">
              <a:solidFill>
                <a:srgbClr val="0A1D41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7478789" cy="71214"/>
            </a:xfrm>
            <a:prstGeom prst="rect">
              <a:avLst/>
            </a:prstGeom>
          </p:spPr>
          <p:txBody>
            <a:bodyPr anchor="ctr" rtlCol="false" tIns="37596" lIns="37596" bIns="37596" rIns="37596"/>
            <a:lstStyle/>
            <a:p>
              <a:pPr algn="ctr">
                <a:lnSpc>
                  <a:spcPts val="173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6667138" y="9861794"/>
            <a:ext cx="3893296" cy="315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2"/>
              </a:lnSpc>
            </a:pPr>
            <a:r>
              <a:rPr lang="en-US" sz="1837" spc="11" b="true">
                <a:solidFill>
                  <a:srgbClr val="0A1D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Houcine.dev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39855" y="1363020"/>
            <a:ext cx="8264749" cy="3144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70"/>
              </a:lnSpc>
            </a:pPr>
            <a:r>
              <a:rPr lang="en-US" sz="26750" spc="-936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findash</a:t>
            </a:r>
          </a:p>
        </p:txBody>
      </p:sp>
      <p:sp>
        <p:nvSpPr>
          <p:cNvPr name="Freeform 17" id="17"/>
          <p:cNvSpPr/>
          <p:nvPr/>
        </p:nvSpPr>
        <p:spPr>
          <a:xfrm flipH="true" flipV="true" rot="0">
            <a:off x="-1279369" y="-2811572"/>
            <a:ext cx="4760070" cy="4760070"/>
          </a:xfrm>
          <a:custGeom>
            <a:avLst/>
            <a:gdLst/>
            <a:ahLst/>
            <a:cxnLst/>
            <a:rect r="r" b="b" t="t" l="l"/>
            <a:pathLst>
              <a:path h="4760070" w="4760070">
                <a:moveTo>
                  <a:pt x="4760071" y="4760070"/>
                </a:moveTo>
                <a:lnTo>
                  <a:pt x="0" y="4760070"/>
                </a:lnTo>
                <a:lnTo>
                  <a:pt x="0" y="0"/>
                </a:lnTo>
                <a:lnTo>
                  <a:pt x="4760071" y="0"/>
                </a:lnTo>
                <a:lnTo>
                  <a:pt x="4760071" y="476007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10703201">
            <a:off x="-2497959" y="4170909"/>
            <a:ext cx="10881332" cy="6828036"/>
          </a:xfrm>
          <a:custGeom>
            <a:avLst/>
            <a:gdLst/>
            <a:ahLst/>
            <a:cxnLst/>
            <a:rect r="r" b="b" t="t" l="l"/>
            <a:pathLst>
              <a:path h="6828036" w="10881332">
                <a:moveTo>
                  <a:pt x="0" y="0"/>
                </a:moveTo>
                <a:lnTo>
                  <a:pt x="10881332" y="0"/>
                </a:lnTo>
                <a:lnTo>
                  <a:pt x="10881332" y="6828036"/>
                </a:lnTo>
                <a:lnTo>
                  <a:pt x="0" y="682803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639855" y="4023791"/>
            <a:ext cx="8264749" cy="3144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70"/>
              </a:lnSpc>
            </a:pPr>
            <a:r>
              <a:rPr lang="en-US" sz="26750" spc="-936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S&amp;P 500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26333" y="9871319"/>
            <a:ext cx="20299167" cy="415681"/>
            <a:chOff x="0" y="0"/>
            <a:chExt cx="5683409" cy="11638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683409" cy="116383"/>
            </a:xfrm>
            <a:custGeom>
              <a:avLst/>
              <a:gdLst/>
              <a:ahLst/>
              <a:cxnLst/>
              <a:rect r="r" b="b" t="t" l="l"/>
              <a:pathLst>
                <a:path h="116383" w="5683409">
                  <a:moveTo>
                    <a:pt x="0" y="0"/>
                  </a:moveTo>
                  <a:lnTo>
                    <a:pt x="5683409" y="0"/>
                  </a:lnTo>
                  <a:lnTo>
                    <a:pt x="5683409" y="116383"/>
                  </a:lnTo>
                  <a:lnTo>
                    <a:pt x="0" y="11638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683409" cy="144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279369" y="10217567"/>
            <a:ext cx="21015180" cy="119815"/>
            <a:chOff x="0" y="0"/>
            <a:chExt cx="7478789" cy="4263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78789" cy="42639"/>
            </a:xfrm>
            <a:custGeom>
              <a:avLst/>
              <a:gdLst/>
              <a:ahLst/>
              <a:cxnLst/>
              <a:rect r="r" b="b" t="t" l="l"/>
              <a:pathLst>
                <a:path h="42639" w="7478789">
                  <a:moveTo>
                    <a:pt x="0" y="0"/>
                  </a:moveTo>
                  <a:lnTo>
                    <a:pt x="7478789" y="0"/>
                  </a:lnTo>
                  <a:lnTo>
                    <a:pt x="7478789" y="42639"/>
                  </a:lnTo>
                  <a:lnTo>
                    <a:pt x="0" y="42639"/>
                  </a:lnTo>
                  <a:close/>
                </a:path>
              </a:pathLst>
            </a:custGeom>
            <a:solidFill>
              <a:srgbClr val="0A1D41"/>
            </a:solidFill>
            <a:ln w="952500" cap="sq">
              <a:solidFill>
                <a:srgbClr val="0A1D41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7478789" cy="71214"/>
            </a:xfrm>
            <a:prstGeom prst="rect">
              <a:avLst/>
            </a:prstGeom>
          </p:spPr>
          <p:txBody>
            <a:bodyPr anchor="ctr" rtlCol="false" tIns="37596" lIns="37596" bIns="37596" rIns="37596"/>
            <a:lstStyle/>
            <a:p>
              <a:pPr algn="ctr">
                <a:lnSpc>
                  <a:spcPts val="173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6667138" y="9861794"/>
            <a:ext cx="3893296" cy="315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2"/>
              </a:lnSpc>
            </a:pPr>
            <a:r>
              <a:rPr lang="en-US" sz="1837" spc="11" b="true">
                <a:solidFill>
                  <a:srgbClr val="0A1D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Houcine.dev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58737" y="4193722"/>
            <a:ext cx="15570527" cy="4482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94"/>
              </a:lnSpc>
            </a:pPr>
            <a:r>
              <a:rPr lang="en-US" b="true" sz="4282" spc="2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FinDash is an interactive financial dashboard designed t</a:t>
            </a:r>
            <a:r>
              <a:rPr lang="en-US" b="true" sz="4282" spc="2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 give users a comprehensive and intuitive view of the S&amp;P 500. It acts as a one-stop solution for stock market enthusiasts, allowing them to explore, analyze, and predict market trends easily.</a:t>
            </a:r>
          </a:p>
          <a:p>
            <a:pPr algn="ctr">
              <a:lnSpc>
                <a:spcPts val="599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4187109" y="904875"/>
            <a:ext cx="10458627" cy="3144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70"/>
              </a:lnSpc>
            </a:pPr>
            <a:r>
              <a:rPr lang="en-US" sz="26750" spc="-936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overview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26333" y="9871319"/>
            <a:ext cx="20299167" cy="415681"/>
            <a:chOff x="0" y="0"/>
            <a:chExt cx="5683409" cy="11638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683409" cy="116383"/>
            </a:xfrm>
            <a:custGeom>
              <a:avLst/>
              <a:gdLst/>
              <a:ahLst/>
              <a:cxnLst/>
              <a:rect r="r" b="b" t="t" l="l"/>
              <a:pathLst>
                <a:path h="116383" w="5683409">
                  <a:moveTo>
                    <a:pt x="0" y="0"/>
                  </a:moveTo>
                  <a:lnTo>
                    <a:pt x="5683409" y="0"/>
                  </a:lnTo>
                  <a:lnTo>
                    <a:pt x="5683409" y="116383"/>
                  </a:lnTo>
                  <a:lnTo>
                    <a:pt x="0" y="11638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683409" cy="144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279369" y="10217567"/>
            <a:ext cx="21015180" cy="119815"/>
            <a:chOff x="0" y="0"/>
            <a:chExt cx="7478789" cy="4263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78789" cy="42639"/>
            </a:xfrm>
            <a:custGeom>
              <a:avLst/>
              <a:gdLst/>
              <a:ahLst/>
              <a:cxnLst/>
              <a:rect r="r" b="b" t="t" l="l"/>
              <a:pathLst>
                <a:path h="42639" w="7478789">
                  <a:moveTo>
                    <a:pt x="0" y="0"/>
                  </a:moveTo>
                  <a:lnTo>
                    <a:pt x="7478789" y="0"/>
                  </a:lnTo>
                  <a:lnTo>
                    <a:pt x="7478789" y="42639"/>
                  </a:lnTo>
                  <a:lnTo>
                    <a:pt x="0" y="42639"/>
                  </a:lnTo>
                  <a:close/>
                </a:path>
              </a:pathLst>
            </a:custGeom>
            <a:solidFill>
              <a:srgbClr val="0A1D41"/>
            </a:solidFill>
            <a:ln w="952500" cap="sq">
              <a:solidFill>
                <a:srgbClr val="0A1D41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7478789" cy="71214"/>
            </a:xfrm>
            <a:prstGeom prst="rect">
              <a:avLst/>
            </a:prstGeom>
          </p:spPr>
          <p:txBody>
            <a:bodyPr anchor="ctr" rtlCol="false" tIns="37596" lIns="37596" bIns="37596" rIns="37596"/>
            <a:lstStyle/>
            <a:p>
              <a:pPr algn="ctr">
                <a:lnSpc>
                  <a:spcPts val="173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6667138" y="9861794"/>
            <a:ext cx="3893296" cy="315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2"/>
              </a:lnSpc>
            </a:pPr>
            <a:r>
              <a:rPr lang="en-US" sz="1837" spc="11" b="true">
                <a:solidFill>
                  <a:srgbClr val="0A1D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Houcine.dev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491491" y="904875"/>
            <a:ext cx="11182820" cy="3144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70"/>
              </a:lnSpc>
            </a:pPr>
            <a:r>
              <a:rPr lang="en-US" sz="26750" spc="-936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objectives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79333" y="3847474"/>
            <a:ext cx="13897777" cy="602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25187" indent="-412594" lvl="1">
              <a:lnSpc>
                <a:spcPts val="5350"/>
              </a:lnSpc>
              <a:buFont typeface="Arial"/>
              <a:buChar char="•"/>
            </a:pPr>
            <a:r>
              <a:rPr lang="en-US" b="true" sz="3822" spc="2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Provide an interactive dashboard that displays key stock market data.</a:t>
            </a:r>
          </a:p>
          <a:p>
            <a:pPr algn="ctr" marL="825187" indent="-412594" lvl="1">
              <a:lnSpc>
                <a:spcPts val="5350"/>
              </a:lnSpc>
              <a:buFont typeface="Arial"/>
              <a:buChar char="•"/>
            </a:pPr>
            <a:r>
              <a:rPr lang="en-US" b="true" sz="3822" spc="2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All</a:t>
            </a:r>
            <a:r>
              <a:rPr lang="en-US" b="true" sz="3822" spc="2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ow investors to analyze portfolio trends over time.</a:t>
            </a:r>
          </a:p>
          <a:p>
            <a:pPr algn="ctr" marL="825187" indent="-412594" lvl="1">
              <a:lnSpc>
                <a:spcPts val="5350"/>
              </a:lnSpc>
              <a:buFont typeface="Arial"/>
              <a:buChar char="•"/>
            </a:pPr>
            <a:r>
              <a:rPr lang="en-US" b="true" sz="3822" spc="2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Offer predictive insights (such as future prices and Value at Risk).</a:t>
            </a:r>
          </a:p>
          <a:p>
            <a:pPr algn="ctr" marL="825187" indent="-412594" lvl="1">
              <a:lnSpc>
                <a:spcPts val="5350"/>
              </a:lnSpc>
              <a:buFont typeface="Arial"/>
              <a:buChar char="•"/>
            </a:pPr>
            <a:r>
              <a:rPr lang="en-US" b="true" sz="3822" spc="2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Present financial statements and company metrics clearly.</a:t>
            </a:r>
          </a:p>
          <a:p>
            <a:pPr algn="ctr">
              <a:lnSpc>
                <a:spcPts val="535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26333" y="9871319"/>
            <a:ext cx="20299167" cy="415681"/>
            <a:chOff x="0" y="0"/>
            <a:chExt cx="5683409" cy="11638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683409" cy="116383"/>
            </a:xfrm>
            <a:custGeom>
              <a:avLst/>
              <a:gdLst/>
              <a:ahLst/>
              <a:cxnLst/>
              <a:rect r="r" b="b" t="t" l="l"/>
              <a:pathLst>
                <a:path h="116383" w="5683409">
                  <a:moveTo>
                    <a:pt x="0" y="0"/>
                  </a:moveTo>
                  <a:lnTo>
                    <a:pt x="5683409" y="0"/>
                  </a:lnTo>
                  <a:lnTo>
                    <a:pt x="5683409" y="116383"/>
                  </a:lnTo>
                  <a:lnTo>
                    <a:pt x="0" y="11638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683409" cy="144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279369" y="10217567"/>
            <a:ext cx="21015180" cy="119815"/>
            <a:chOff x="0" y="0"/>
            <a:chExt cx="7478789" cy="4263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78789" cy="42639"/>
            </a:xfrm>
            <a:custGeom>
              <a:avLst/>
              <a:gdLst/>
              <a:ahLst/>
              <a:cxnLst/>
              <a:rect r="r" b="b" t="t" l="l"/>
              <a:pathLst>
                <a:path h="42639" w="7478789">
                  <a:moveTo>
                    <a:pt x="0" y="0"/>
                  </a:moveTo>
                  <a:lnTo>
                    <a:pt x="7478789" y="0"/>
                  </a:lnTo>
                  <a:lnTo>
                    <a:pt x="7478789" y="42639"/>
                  </a:lnTo>
                  <a:lnTo>
                    <a:pt x="0" y="42639"/>
                  </a:lnTo>
                  <a:close/>
                </a:path>
              </a:pathLst>
            </a:custGeom>
            <a:solidFill>
              <a:srgbClr val="0A1D41"/>
            </a:solidFill>
            <a:ln w="952500" cap="sq">
              <a:solidFill>
                <a:srgbClr val="0A1D41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7478789" cy="71214"/>
            </a:xfrm>
            <a:prstGeom prst="rect">
              <a:avLst/>
            </a:prstGeom>
          </p:spPr>
          <p:txBody>
            <a:bodyPr anchor="ctr" rtlCol="false" tIns="37596" lIns="37596" bIns="37596" rIns="37596"/>
            <a:lstStyle/>
            <a:p>
              <a:pPr algn="ctr">
                <a:lnSpc>
                  <a:spcPts val="173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17822" y="2215975"/>
            <a:ext cx="10283680" cy="7442813"/>
          </a:xfrm>
          <a:custGeom>
            <a:avLst/>
            <a:gdLst/>
            <a:ahLst/>
            <a:cxnLst/>
            <a:rect r="r" b="b" t="t" l="l"/>
            <a:pathLst>
              <a:path h="7442813" w="10283680">
                <a:moveTo>
                  <a:pt x="0" y="0"/>
                </a:moveTo>
                <a:lnTo>
                  <a:pt x="10283680" y="0"/>
                </a:lnTo>
                <a:lnTo>
                  <a:pt x="10283680" y="7442813"/>
                </a:lnTo>
                <a:lnTo>
                  <a:pt x="0" y="74428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667138" y="9861794"/>
            <a:ext cx="3893296" cy="315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2"/>
              </a:lnSpc>
            </a:pPr>
            <a:r>
              <a:rPr lang="en-US" sz="1837" spc="11" b="true">
                <a:solidFill>
                  <a:srgbClr val="0A1D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Houcine.dev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7822" y="533400"/>
            <a:ext cx="13496791" cy="183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24"/>
              </a:lnSpc>
            </a:pPr>
            <a:r>
              <a:rPr lang="en-US" sz="15624" spc="-546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Dashboard Structure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934081" y="3288337"/>
            <a:ext cx="7066592" cy="1675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0"/>
              </a:lnSpc>
            </a:pPr>
            <a:r>
              <a:rPr lang="en-US" sz="1943" spc="1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Tab 1</a:t>
            </a:r>
          </a:p>
          <a:p>
            <a:pPr algn="l" marL="419581" indent="-209791" lvl="1">
              <a:lnSpc>
                <a:spcPts val="2720"/>
              </a:lnSpc>
              <a:buFont typeface="Arial"/>
              <a:buChar char="•"/>
            </a:pPr>
            <a:r>
              <a:rPr lang="en-US" b="true" sz="1943" spc="1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View key statistics.</a:t>
            </a:r>
          </a:p>
          <a:p>
            <a:pPr algn="l" marL="419581" indent="-209791" lvl="1">
              <a:lnSpc>
                <a:spcPts val="2720"/>
              </a:lnSpc>
              <a:buFont typeface="Arial"/>
              <a:buChar char="•"/>
            </a:pPr>
            <a:r>
              <a:rPr lang="en-US" b="true" sz="1943" spc="1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</a:t>
            </a:r>
            <a:r>
              <a:rPr lang="en-US" b="true" sz="1943" spc="1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isualize the trend of closing prices for a selected period.</a:t>
            </a:r>
          </a:p>
          <a:p>
            <a:pPr algn="l">
              <a:lnSpc>
                <a:spcPts val="272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26333" y="9871319"/>
            <a:ext cx="20299167" cy="415681"/>
            <a:chOff x="0" y="0"/>
            <a:chExt cx="5683409" cy="11638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683409" cy="116383"/>
            </a:xfrm>
            <a:custGeom>
              <a:avLst/>
              <a:gdLst/>
              <a:ahLst/>
              <a:cxnLst/>
              <a:rect r="r" b="b" t="t" l="l"/>
              <a:pathLst>
                <a:path h="116383" w="5683409">
                  <a:moveTo>
                    <a:pt x="0" y="0"/>
                  </a:moveTo>
                  <a:lnTo>
                    <a:pt x="5683409" y="0"/>
                  </a:lnTo>
                  <a:lnTo>
                    <a:pt x="5683409" y="116383"/>
                  </a:lnTo>
                  <a:lnTo>
                    <a:pt x="0" y="11638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683409" cy="144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279369" y="10217567"/>
            <a:ext cx="21015180" cy="119815"/>
            <a:chOff x="0" y="0"/>
            <a:chExt cx="7478789" cy="4263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78789" cy="42639"/>
            </a:xfrm>
            <a:custGeom>
              <a:avLst/>
              <a:gdLst/>
              <a:ahLst/>
              <a:cxnLst/>
              <a:rect r="r" b="b" t="t" l="l"/>
              <a:pathLst>
                <a:path h="42639" w="7478789">
                  <a:moveTo>
                    <a:pt x="0" y="0"/>
                  </a:moveTo>
                  <a:lnTo>
                    <a:pt x="7478789" y="0"/>
                  </a:lnTo>
                  <a:lnTo>
                    <a:pt x="7478789" y="42639"/>
                  </a:lnTo>
                  <a:lnTo>
                    <a:pt x="0" y="42639"/>
                  </a:lnTo>
                  <a:close/>
                </a:path>
              </a:pathLst>
            </a:custGeom>
            <a:solidFill>
              <a:srgbClr val="0A1D41"/>
            </a:solidFill>
            <a:ln w="952500" cap="sq">
              <a:solidFill>
                <a:srgbClr val="0A1D41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7478789" cy="71214"/>
            </a:xfrm>
            <a:prstGeom prst="rect">
              <a:avLst/>
            </a:prstGeom>
          </p:spPr>
          <p:txBody>
            <a:bodyPr anchor="ctr" rtlCol="false" tIns="37596" lIns="37596" bIns="37596" rIns="37596"/>
            <a:lstStyle/>
            <a:p>
              <a:pPr algn="ctr">
                <a:lnSpc>
                  <a:spcPts val="173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47783" y="3167612"/>
            <a:ext cx="8961995" cy="5757610"/>
          </a:xfrm>
          <a:custGeom>
            <a:avLst/>
            <a:gdLst/>
            <a:ahLst/>
            <a:cxnLst/>
            <a:rect r="r" b="b" t="t" l="l"/>
            <a:pathLst>
              <a:path h="5757610" w="8961995">
                <a:moveTo>
                  <a:pt x="0" y="0"/>
                </a:moveTo>
                <a:lnTo>
                  <a:pt x="8961995" y="0"/>
                </a:lnTo>
                <a:lnTo>
                  <a:pt x="8961995" y="5757611"/>
                </a:lnTo>
                <a:lnTo>
                  <a:pt x="0" y="57576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771066" y="5499351"/>
            <a:ext cx="8087095" cy="3425872"/>
          </a:xfrm>
          <a:custGeom>
            <a:avLst/>
            <a:gdLst/>
            <a:ahLst/>
            <a:cxnLst/>
            <a:rect r="r" b="b" t="t" l="l"/>
            <a:pathLst>
              <a:path h="3425872" w="8087095">
                <a:moveTo>
                  <a:pt x="0" y="0"/>
                </a:moveTo>
                <a:lnTo>
                  <a:pt x="8087095" y="0"/>
                </a:lnTo>
                <a:lnTo>
                  <a:pt x="8087095" y="3425872"/>
                </a:lnTo>
                <a:lnTo>
                  <a:pt x="0" y="34258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6667138" y="9861794"/>
            <a:ext cx="3893296" cy="315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2"/>
              </a:lnSpc>
            </a:pPr>
            <a:r>
              <a:rPr lang="en-US" sz="1837" spc="11" b="true">
                <a:solidFill>
                  <a:srgbClr val="0A1D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Houcine.dev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7822" y="533400"/>
            <a:ext cx="13496791" cy="183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24"/>
              </a:lnSpc>
            </a:pPr>
            <a:r>
              <a:rPr lang="en-US" sz="15624" spc="-546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Dashboard Structure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34081" y="3288337"/>
            <a:ext cx="7066592" cy="1675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0"/>
              </a:lnSpc>
            </a:pPr>
            <a:r>
              <a:rPr lang="en-US" sz="1943" spc="1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Tab 2</a:t>
            </a:r>
          </a:p>
          <a:p>
            <a:pPr algn="l" marL="419581" indent="-209791" lvl="1">
              <a:lnSpc>
                <a:spcPts val="2720"/>
              </a:lnSpc>
              <a:buFont typeface="Arial"/>
              <a:buChar char="•"/>
            </a:pPr>
            <a:r>
              <a:rPr lang="en-US" b="true" sz="1943" spc="1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</a:t>
            </a:r>
            <a:r>
              <a:rPr lang="en-US" b="true" sz="1943" spc="1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isplay three plots in one figure.</a:t>
            </a:r>
          </a:p>
          <a:p>
            <a:pPr algn="l" marL="419581" indent="-209791" lvl="1">
              <a:lnSpc>
                <a:spcPts val="2720"/>
              </a:lnSpc>
              <a:buFont typeface="Arial"/>
              <a:buChar char="•"/>
            </a:pPr>
            <a:r>
              <a:rPr lang="en-US" b="true" sz="1943" spc="1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</a:t>
            </a:r>
            <a:r>
              <a:rPr lang="en-US" b="true" sz="1943" spc="1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low users to customize parameters and hover to see datapoints</a:t>
            </a:r>
          </a:p>
          <a:p>
            <a:pPr algn="l">
              <a:lnSpc>
                <a:spcPts val="272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26333" y="9871319"/>
            <a:ext cx="20299167" cy="415681"/>
            <a:chOff x="0" y="0"/>
            <a:chExt cx="5683409" cy="11638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683409" cy="116383"/>
            </a:xfrm>
            <a:custGeom>
              <a:avLst/>
              <a:gdLst/>
              <a:ahLst/>
              <a:cxnLst/>
              <a:rect r="r" b="b" t="t" l="l"/>
              <a:pathLst>
                <a:path h="116383" w="5683409">
                  <a:moveTo>
                    <a:pt x="0" y="0"/>
                  </a:moveTo>
                  <a:lnTo>
                    <a:pt x="5683409" y="0"/>
                  </a:lnTo>
                  <a:lnTo>
                    <a:pt x="5683409" y="116383"/>
                  </a:lnTo>
                  <a:lnTo>
                    <a:pt x="0" y="11638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683409" cy="144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279369" y="10217567"/>
            <a:ext cx="21015180" cy="119815"/>
            <a:chOff x="0" y="0"/>
            <a:chExt cx="7478789" cy="4263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78789" cy="42639"/>
            </a:xfrm>
            <a:custGeom>
              <a:avLst/>
              <a:gdLst/>
              <a:ahLst/>
              <a:cxnLst/>
              <a:rect r="r" b="b" t="t" l="l"/>
              <a:pathLst>
                <a:path h="42639" w="7478789">
                  <a:moveTo>
                    <a:pt x="0" y="0"/>
                  </a:moveTo>
                  <a:lnTo>
                    <a:pt x="7478789" y="0"/>
                  </a:lnTo>
                  <a:lnTo>
                    <a:pt x="7478789" y="42639"/>
                  </a:lnTo>
                  <a:lnTo>
                    <a:pt x="0" y="42639"/>
                  </a:lnTo>
                  <a:close/>
                </a:path>
              </a:pathLst>
            </a:custGeom>
            <a:solidFill>
              <a:srgbClr val="0A1D41"/>
            </a:solidFill>
            <a:ln w="952500" cap="sq">
              <a:solidFill>
                <a:srgbClr val="0A1D41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7478789" cy="71214"/>
            </a:xfrm>
            <a:prstGeom prst="rect">
              <a:avLst/>
            </a:prstGeom>
          </p:spPr>
          <p:txBody>
            <a:bodyPr anchor="ctr" rtlCol="false" tIns="37596" lIns="37596" bIns="37596" rIns="37596"/>
            <a:lstStyle/>
            <a:p>
              <a:pPr algn="ctr">
                <a:lnSpc>
                  <a:spcPts val="173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808288" y="5299277"/>
            <a:ext cx="4672548" cy="3962210"/>
          </a:xfrm>
          <a:custGeom>
            <a:avLst/>
            <a:gdLst/>
            <a:ahLst/>
            <a:cxnLst/>
            <a:rect r="r" b="b" t="t" l="l"/>
            <a:pathLst>
              <a:path h="3962210" w="4672548">
                <a:moveTo>
                  <a:pt x="0" y="0"/>
                </a:moveTo>
                <a:lnTo>
                  <a:pt x="4672548" y="0"/>
                </a:lnTo>
                <a:lnTo>
                  <a:pt x="4672548" y="3962210"/>
                </a:lnTo>
                <a:lnTo>
                  <a:pt x="0" y="39622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543017" y="5289752"/>
            <a:ext cx="4672548" cy="4030073"/>
          </a:xfrm>
          <a:custGeom>
            <a:avLst/>
            <a:gdLst/>
            <a:ahLst/>
            <a:cxnLst/>
            <a:rect r="r" b="b" t="t" l="l"/>
            <a:pathLst>
              <a:path h="4030073" w="4672548">
                <a:moveTo>
                  <a:pt x="0" y="0"/>
                </a:moveTo>
                <a:lnTo>
                  <a:pt x="4672548" y="0"/>
                </a:lnTo>
                <a:lnTo>
                  <a:pt x="4672548" y="4030073"/>
                </a:lnTo>
                <a:lnTo>
                  <a:pt x="0" y="40300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876917" y="5256913"/>
            <a:ext cx="4790221" cy="4114800"/>
          </a:xfrm>
          <a:custGeom>
            <a:avLst/>
            <a:gdLst/>
            <a:ahLst/>
            <a:cxnLst/>
            <a:rect r="r" b="b" t="t" l="l"/>
            <a:pathLst>
              <a:path h="4114800" w="4790221">
                <a:moveTo>
                  <a:pt x="0" y="0"/>
                </a:moveTo>
                <a:lnTo>
                  <a:pt x="4790221" y="0"/>
                </a:lnTo>
                <a:lnTo>
                  <a:pt x="47902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6667138" y="9861794"/>
            <a:ext cx="3893296" cy="315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2"/>
              </a:lnSpc>
            </a:pPr>
            <a:r>
              <a:rPr lang="en-US" sz="1837" spc="11" b="true">
                <a:solidFill>
                  <a:srgbClr val="0A1D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Houcine.dev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7822" y="533400"/>
            <a:ext cx="13496791" cy="183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24"/>
              </a:lnSpc>
            </a:pPr>
            <a:r>
              <a:rPr lang="en-US" sz="15624" spc="-546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Dashboard Structure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883495" y="2543829"/>
            <a:ext cx="7066592" cy="2010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0"/>
              </a:lnSpc>
            </a:pPr>
            <a:r>
              <a:rPr lang="en-US" sz="1943" spc="1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Tab 3-4-5</a:t>
            </a:r>
          </a:p>
          <a:p>
            <a:pPr algn="l" marL="419581" indent="-209791" lvl="1">
              <a:lnSpc>
                <a:spcPts val="2720"/>
              </a:lnSpc>
              <a:buFont typeface="Arial"/>
              <a:buChar char="•"/>
            </a:pPr>
            <a:r>
              <a:rPr lang="en-US" b="true" sz="1943" spc="1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Conta</a:t>
            </a:r>
            <a:r>
              <a:rPr lang="en-US" b="true" sz="1943" spc="1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 detailed financ</a:t>
            </a:r>
            <a:r>
              <a:rPr lang="en-US" b="true" sz="1943" spc="1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ial statements and analysis tools.</a:t>
            </a:r>
          </a:p>
          <a:p>
            <a:pPr algn="l" marL="419581" indent="-209791" lvl="1">
              <a:lnSpc>
                <a:spcPts val="2720"/>
              </a:lnSpc>
              <a:buFont typeface="Arial"/>
              <a:buChar char="•"/>
            </a:pPr>
            <a:r>
              <a:rPr lang="en-US" b="true" sz="1943" spc="1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Include options for period selection and labeled data.</a:t>
            </a:r>
          </a:p>
          <a:p>
            <a:pPr algn="l">
              <a:lnSpc>
                <a:spcPts val="272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26333" y="9871319"/>
            <a:ext cx="20299167" cy="415681"/>
            <a:chOff x="0" y="0"/>
            <a:chExt cx="5683409" cy="11638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683409" cy="116383"/>
            </a:xfrm>
            <a:custGeom>
              <a:avLst/>
              <a:gdLst/>
              <a:ahLst/>
              <a:cxnLst/>
              <a:rect r="r" b="b" t="t" l="l"/>
              <a:pathLst>
                <a:path h="116383" w="5683409">
                  <a:moveTo>
                    <a:pt x="0" y="0"/>
                  </a:moveTo>
                  <a:lnTo>
                    <a:pt x="5683409" y="0"/>
                  </a:lnTo>
                  <a:lnTo>
                    <a:pt x="5683409" y="116383"/>
                  </a:lnTo>
                  <a:lnTo>
                    <a:pt x="0" y="11638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683409" cy="144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279369" y="10217567"/>
            <a:ext cx="21015180" cy="119815"/>
            <a:chOff x="0" y="0"/>
            <a:chExt cx="7478789" cy="4263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78789" cy="42639"/>
            </a:xfrm>
            <a:custGeom>
              <a:avLst/>
              <a:gdLst/>
              <a:ahLst/>
              <a:cxnLst/>
              <a:rect r="r" b="b" t="t" l="l"/>
              <a:pathLst>
                <a:path h="42639" w="7478789">
                  <a:moveTo>
                    <a:pt x="0" y="0"/>
                  </a:moveTo>
                  <a:lnTo>
                    <a:pt x="7478789" y="0"/>
                  </a:lnTo>
                  <a:lnTo>
                    <a:pt x="7478789" y="42639"/>
                  </a:lnTo>
                  <a:lnTo>
                    <a:pt x="0" y="42639"/>
                  </a:lnTo>
                  <a:close/>
                </a:path>
              </a:pathLst>
            </a:custGeom>
            <a:solidFill>
              <a:srgbClr val="0A1D41"/>
            </a:solidFill>
            <a:ln w="952500" cap="sq">
              <a:solidFill>
                <a:srgbClr val="0A1D41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7478789" cy="71214"/>
            </a:xfrm>
            <a:prstGeom prst="rect">
              <a:avLst/>
            </a:prstGeom>
          </p:spPr>
          <p:txBody>
            <a:bodyPr anchor="ctr" rtlCol="false" tIns="37596" lIns="37596" bIns="37596" rIns="37596"/>
            <a:lstStyle/>
            <a:p>
              <a:pPr algn="ctr">
                <a:lnSpc>
                  <a:spcPts val="173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872721" y="2204825"/>
            <a:ext cx="9150530" cy="6867322"/>
          </a:xfrm>
          <a:custGeom>
            <a:avLst/>
            <a:gdLst/>
            <a:ahLst/>
            <a:cxnLst/>
            <a:rect r="r" b="b" t="t" l="l"/>
            <a:pathLst>
              <a:path h="6867322" w="9150530">
                <a:moveTo>
                  <a:pt x="0" y="0"/>
                </a:moveTo>
                <a:lnTo>
                  <a:pt x="9150530" y="0"/>
                </a:lnTo>
                <a:lnTo>
                  <a:pt x="9150530" y="6867322"/>
                </a:lnTo>
                <a:lnTo>
                  <a:pt x="0" y="68673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892010" y="4346777"/>
            <a:ext cx="5845207" cy="4725370"/>
          </a:xfrm>
          <a:custGeom>
            <a:avLst/>
            <a:gdLst/>
            <a:ahLst/>
            <a:cxnLst/>
            <a:rect r="r" b="b" t="t" l="l"/>
            <a:pathLst>
              <a:path h="4725370" w="5845207">
                <a:moveTo>
                  <a:pt x="0" y="0"/>
                </a:moveTo>
                <a:lnTo>
                  <a:pt x="5845207" y="0"/>
                </a:lnTo>
                <a:lnTo>
                  <a:pt x="5845207" y="4725370"/>
                </a:lnTo>
                <a:lnTo>
                  <a:pt x="0" y="47253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6667138" y="9861794"/>
            <a:ext cx="3893296" cy="315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2"/>
              </a:lnSpc>
            </a:pPr>
            <a:r>
              <a:rPr lang="en-US" sz="1837" spc="11" b="true">
                <a:solidFill>
                  <a:srgbClr val="0A1D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Houcine.dev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7822" y="533400"/>
            <a:ext cx="13496791" cy="183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24"/>
              </a:lnSpc>
            </a:pPr>
            <a:r>
              <a:rPr lang="en-US" sz="15624" spc="-546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Dashboard Structure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92619" y="2326312"/>
            <a:ext cx="7066592" cy="2010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0"/>
              </a:lnSpc>
            </a:pPr>
            <a:r>
              <a:rPr lang="en-US" sz="1943" spc="1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Tab 6</a:t>
            </a:r>
          </a:p>
          <a:p>
            <a:pPr algn="l" marL="419581" indent="-209791" lvl="1">
              <a:lnSpc>
                <a:spcPts val="2720"/>
              </a:lnSpc>
              <a:buFont typeface="Arial"/>
              <a:buChar char="•"/>
            </a:pPr>
            <a:r>
              <a:rPr lang="en-US" b="true" sz="1943" spc="1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Off</a:t>
            </a:r>
            <a:r>
              <a:rPr lang="en-US" b="true" sz="1943" spc="1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ers stock price prediction tools.</a:t>
            </a:r>
          </a:p>
          <a:p>
            <a:pPr algn="l" marL="419581" indent="-209791" lvl="1">
              <a:lnSpc>
                <a:spcPts val="2720"/>
              </a:lnSpc>
              <a:buFont typeface="Arial"/>
              <a:buChar char="•"/>
            </a:pPr>
            <a:r>
              <a:rPr lang="en-US" b="true" sz="1943" spc="1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</a:t>
            </a:r>
            <a:r>
              <a:rPr lang="en-US" b="true" sz="1943" spc="1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sers can choose between time horizon or number of intervals.</a:t>
            </a:r>
          </a:p>
          <a:p>
            <a:pPr algn="l" marL="419581" indent="-209791" lvl="1">
              <a:lnSpc>
                <a:spcPts val="2720"/>
              </a:lnSpc>
              <a:buFont typeface="Arial"/>
              <a:buChar char="•"/>
            </a:pPr>
            <a:r>
              <a:rPr lang="en-US" b="true" sz="1943" spc="1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Automatically calculates Value at Risk (VaR).</a:t>
            </a:r>
          </a:p>
          <a:p>
            <a:pPr algn="l">
              <a:lnSpc>
                <a:spcPts val="272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26333" y="9871319"/>
            <a:ext cx="20299167" cy="415681"/>
            <a:chOff x="0" y="0"/>
            <a:chExt cx="5683409" cy="11638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683409" cy="116383"/>
            </a:xfrm>
            <a:custGeom>
              <a:avLst/>
              <a:gdLst/>
              <a:ahLst/>
              <a:cxnLst/>
              <a:rect r="r" b="b" t="t" l="l"/>
              <a:pathLst>
                <a:path h="116383" w="5683409">
                  <a:moveTo>
                    <a:pt x="0" y="0"/>
                  </a:moveTo>
                  <a:lnTo>
                    <a:pt x="5683409" y="0"/>
                  </a:lnTo>
                  <a:lnTo>
                    <a:pt x="5683409" y="116383"/>
                  </a:lnTo>
                  <a:lnTo>
                    <a:pt x="0" y="11638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683409" cy="144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279369" y="10217567"/>
            <a:ext cx="21015180" cy="119815"/>
            <a:chOff x="0" y="0"/>
            <a:chExt cx="7478789" cy="4263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78789" cy="42639"/>
            </a:xfrm>
            <a:custGeom>
              <a:avLst/>
              <a:gdLst/>
              <a:ahLst/>
              <a:cxnLst/>
              <a:rect r="r" b="b" t="t" l="l"/>
              <a:pathLst>
                <a:path h="42639" w="7478789">
                  <a:moveTo>
                    <a:pt x="0" y="0"/>
                  </a:moveTo>
                  <a:lnTo>
                    <a:pt x="7478789" y="0"/>
                  </a:lnTo>
                  <a:lnTo>
                    <a:pt x="7478789" y="42639"/>
                  </a:lnTo>
                  <a:lnTo>
                    <a:pt x="0" y="42639"/>
                  </a:lnTo>
                  <a:close/>
                </a:path>
              </a:pathLst>
            </a:custGeom>
            <a:solidFill>
              <a:srgbClr val="0A1D41"/>
            </a:solidFill>
            <a:ln w="952500" cap="sq">
              <a:solidFill>
                <a:srgbClr val="0A1D41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7478789" cy="71214"/>
            </a:xfrm>
            <a:prstGeom prst="rect">
              <a:avLst/>
            </a:prstGeom>
          </p:spPr>
          <p:txBody>
            <a:bodyPr anchor="ctr" rtlCol="false" tIns="37596" lIns="37596" bIns="37596" rIns="37596"/>
            <a:lstStyle/>
            <a:p>
              <a:pPr algn="ctr">
                <a:lnSpc>
                  <a:spcPts val="173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06180" y="2904780"/>
            <a:ext cx="10396403" cy="5966458"/>
          </a:xfrm>
          <a:custGeom>
            <a:avLst/>
            <a:gdLst/>
            <a:ahLst/>
            <a:cxnLst/>
            <a:rect r="r" b="b" t="t" l="l"/>
            <a:pathLst>
              <a:path h="5966458" w="10396403">
                <a:moveTo>
                  <a:pt x="0" y="0"/>
                </a:moveTo>
                <a:lnTo>
                  <a:pt x="10396403" y="0"/>
                </a:lnTo>
                <a:lnTo>
                  <a:pt x="10396403" y="5966458"/>
                </a:lnTo>
                <a:lnTo>
                  <a:pt x="0" y="59664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667138" y="9861794"/>
            <a:ext cx="3893296" cy="315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2"/>
              </a:lnSpc>
            </a:pPr>
            <a:r>
              <a:rPr lang="en-US" sz="1837" spc="11" b="true">
                <a:solidFill>
                  <a:srgbClr val="0A1D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Houcine.dev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7822" y="533400"/>
            <a:ext cx="13496791" cy="183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24"/>
              </a:lnSpc>
            </a:pPr>
            <a:r>
              <a:rPr lang="en-US" sz="15624" spc="-546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Dashboard Structure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565385" y="2857155"/>
            <a:ext cx="5980012" cy="1026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0"/>
              </a:lnSpc>
            </a:pPr>
            <a:r>
              <a:rPr lang="en-US" sz="1943" spc="1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Tab 7</a:t>
            </a:r>
          </a:p>
          <a:p>
            <a:pPr algn="l" marL="419582" indent="-209791" lvl="1">
              <a:lnSpc>
                <a:spcPts val="2720"/>
              </a:lnSpc>
              <a:buFont typeface="Arial"/>
              <a:buChar char="•"/>
            </a:pPr>
            <a:r>
              <a:rPr lang="en-US" b="true" sz="1943" spc="1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</a:t>
            </a:r>
            <a:r>
              <a:rPr lang="en-US" b="true" sz="1943" spc="1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splays price trends fo</a:t>
            </a:r>
            <a:r>
              <a:rPr lang="en-US" b="true" sz="1943" spc="1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 all stocks in the user’s portfolio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26333" y="9871319"/>
            <a:ext cx="20299167" cy="415681"/>
            <a:chOff x="0" y="0"/>
            <a:chExt cx="5683409" cy="11638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683409" cy="116383"/>
            </a:xfrm>
            <a:custGeom>
              <a:avLst/>
              <a:gdLst/>
              <a:ahLst/>
              <a:cxnLst/>
              <a:rect r="r" b="b" t="t" l="l"/>
              <a:pathLst>
                <a:path h="116383" w="5683409">
                  <a:moveTo>
                    <a:pt x="0" y="0"/>
                  </a:moveTo>
                  <a:lnTo>
                    <a:pt x="5683409" y="0"/>
                  </a:lnTo>
                  <a:lnTo>
                    <a:pt x="5683409" y="116383"/>
                  </a:lnTo>
                  <a:lnTo>
                    <a:pt x="0" y="11638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683409" cy="144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3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279369" y="10217567"/>
            <a:ext cx="21015180" cy="119815"/>
            <a:chOff x="0" y="0"/>
            <a:chExt cx="7478789" cy="4263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78789" cy="42639"/>
            </a:xfrm>
            <a:custGeom>
              <a:avLst/>
              <a:gdLst/>
              <a:ahLst/>
              <a:cxnLst/>
              <a:rect r="r" b="b" t="t" l="l"/>
              <a:pathLst>
                <a:path h="42639" w="7478789">
                  <a:moveTo>
                    <a:pt x="0" y="0"/>
                  </a:moveTo>
                  <a:lnTo>
                    <a:pt x="7478789" y="0"/>
                  </a:lnTo>
                  <a:lnTo>
                    <a:pt x="7478789" y="42639"/>
                  </a:lnTo>
                  <a:lnTo>
                    <a:pt x="0" y="42639"/>
                  </a:lnTo>
                  <a:close/>
                </a:path>
              </a:pathLst>
            </a:custGeom>
            <a:solidFill>
              <a:srgbClr val="0A1D41"/>
            </a:solidFill>
            <a:ln w="952500" cap="sq">
              <a:solidFill>
                <a:srgbClr val="0A1D41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7478789" cy="71214"/>
            </a:xfrm>
            <a:prstGeom prst="rect">
              <a:avLst/>
            </a:prstGeom>
          </p:spPr>
          <p:txBody>
            <a:bodyPr anchor="ctr" rtlCol="false" tIns="37596" lIns="37596" bIns="37596" rIns="37596"/>
            <a:lstStyle/>
            <a:p>
              <a:pPr algn="ctr">
                <a:lnSpc>
                  <a:spcPts val="1739"/>
                </a:lnSpc>
              </a:pPr>
            </a:p>
          </p:txBody>
        </p:sp>
      </p:grpSp>
      <p:graphicFrame>
        <p:nvGraphicFramePr>
          <p:cNvPr name="Object 9" id="9"/>
          <p:cNvGraphicFramePr/>
          <p:nvPr/>
        </p:nvGraphicFramePr>
        <p:xfrm>
          <a:off x="541798" y="2365074"/>
          <a:ext cx="7586157" cy="4274588"/>
        </p:xfrm>
        <a:graphic>
          <a:graphicData uri="http://schemas.openxmlformats.org/presentationml/2006/ole">
            <p:oleObj imgW="9105900" imgH="57912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16667138" y="9861794"/>
            <a:ext cx="3893296" cy="315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2"/>
              </a:lnSpc>
            </a:pPr>
            <a:r>
              <a:rPr lang="en-US" sz="1837" spc="11" b="true">
                <a:solidFill>
                  <a:srgbClr val="0A1D4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Houcine.dev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7822" y="533400"/>
            <a:ext cx="13496791" cy="183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24"/>
              </a:lnSpc>
            </a:pPr>
            <a:r>
              <a:rPr lang="en-US" sz="15624" spc="-546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Dashboard Structure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633774" y="2977886"/>
            <a:ext cx="5396478" cy="5484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0"/>
              </a:lnSpc>
            </a:pPr>
            <a:r>
              <a:rPr lang="en-US" sz="1943" spc="1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How It Works</a:t>
            </a:r>
          </a:p>
          <a:p>
            <a:pPr algn="l" marL="419582" indent="-209791" lvl="1">
              <a:lnSpc>
                <a:spcPts val="2720"/>
              </a:lnSpc>
              <a:buAutoNum type="arabicPeriod" startAt="1"/>
            </a:pPr>
            <a:r>
              <a:rPr lang="en-US" b="true" sz="1943" spc="1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Scraping: Pulls live and historical data from Yahoo Finance APIs.</a:t>
            </a:r>
          </a:p>
          <a:p>
            <a:pPr algn="l" marL="419582" indent="-209791" lvl="1">
              <a:lnSpc>
                <a:spcPts val="2720"/>
              </a:lnSpc>
              <a:buAutoNum type="arabicPeriod" startAt="1"/>
            </a:pPr>
            <a:r>
              <a:rPr lang="en-US" b="true" sz="1943" spc="1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Processing: Cleans and transforms data using Pandas &amp; NumPy.</a:t>
            </a:r>
          </a:p>
          <a:p>
            <a:pPr algn="l" marL="419582" indent="-209791" lvl="1">
              <a:lnSpc>
                <a:spcPts val="2720"/>
              </a:lnSpc>
              <a:buAutoNum type="arabicPeriod" startAt="1"/>
            </a:pPr>
            <a:r>
              <a:rPr lang="en-US" b="true" sz="1943" spc="1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Visualization: Generates interactive charts with Plotly (with hover and selection features).</a:t>
            </a:r>
          </a:p>
          <a:p>
            <a:pPr algn="l" marL="419582" indent="-209791" lvl="1">
              <a:lnSpc>
                <a:spcPts val="2720"/>
              </a:lnSpc>
              <a:buAutoNum type="arabicPeriod" startAt="1"/>
            </a:pPr>
            <a:r>
              <a:rPr lang="en-US" b="true" sz="1943" spc="1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Prediction: Provides forecasted stock prices and risk analysis.</a:t>
            </a:r>
          </a:p>
          <a:p>
            <a:pPr algn="l" marL="419582" indent="-209791" lvl="1">
              <a:lnSpc>
                <a:spcPts val="2720"/>
              </a:lnSpc>
              <a:buAutoNum type="arabicPeriod" startAt="1"/>
            </a:pPr>
            <a:r>
              <a:rPr lang="en-US" b="true" sz="1943" spc="1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Dashboard Display: Combines everything into an interactive, multi-tab dashboard built with Streamlit.</a:t>
            </a:r>
          </a:p>
          <a:p>
            <a:pPr algn="l">
              <a:lnSpc>
                <a:spcPts val="272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DAG20LStYAM</dc:identifier>
  <dcterms:modified xsi:type="dcterms:W3CDTF">2011-08-01T06:04:30Z</dcterms:modified>
  <cp:revision>1</cp:revision>
  <dc:title>Houcine.dev</dc:title>
</cp:coreProperties>
</file>